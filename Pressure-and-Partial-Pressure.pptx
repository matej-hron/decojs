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decotheory.eu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decotheory.eu/sandbox/?profile=eyJpZCI6ImRlY28tMjBtLTQwbWluIiwibmFtZSI6IjIwbSBEZWNvIERpdmUiLCJnYXNlcyI6W3siaWQiOiJhaXIiLCJuYW1lIjoiQWlyIiwibzIiOjAuMjEsIm4yIjowLjc5LCJoZSI6MCwiY3lsaW5kZXJWb2x1bWUiOjE4LCJzdGFydFByZXNzdXJlIjoyMDB9XSwiZ2ZMb3ciOjUwLCJnZkhpZ2giOjgwLCJkaXZlcyI6W3sid2F5cG9pbnRzIjpbeyJ0aW1lIjowLCJkZXB0aCI6MH0seyJ0aW1lIjoxLCJkZXB0aCI6MjAsImdhc0lkIjoiYWlyIn0seyJ0aW1lIjo0MCwiZGVwdGgiOjIwfSx7InRpbWUiOjQyLCJkZXB0aCI6Nn0seyJ0aW1lIjo0MywiZGVwdGgiOjZ9LHsidGltZSI6NDQsImRlcHRoIjozfSx7InRpbWUiOjUxLCJkZXB0aCI6M30seyJ0aW1lIjo1MiwiZGVwdGgiOjB9XX1dLCJkZXNjcmlwdGlvbiI6IkEgMjBtIGRpdmUgZm9yIDQwIG1pbnV0ZXMgd2l0aCBjb25zZXJ2YXRpdmUgR0YgNTAvODAiLCJzdXJmYWNlSW50ZXJ2YWwiOjAuMX0&amp;chart=profile" TargetMode="External"/><Relationship Id="rId3" Type="http://schemas.openxmlformats.org/officeDocument/2006/relationships/hyperlink" Target="https://decotheory.eu/pressure.html" TargetMode="External"/><Relationship Id="rId1" Type="http://schemas.openxmlformats.org/officeDocument/2006/relationships/image" Target="../media/image-2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decotheory.eu/pressure.html" TargetMode="External"/><Relationship Id="rId1" Type="http://schemas.openxmlformats.org/officeDocument/2006/relationships/image" Target="../media/image-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decotheory.eu/pressure.html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decotheory.eu/sandbox/?profile=eyJpZCI6ImRlY28tMjBtLTQwbWluIiwibmFtZSI6IjIwbSBEZWNvIERpdmUiLCJnYXNlcyI6W3siaWQiOiJhaXIiLCJuYW1lIjoiQWlyIiwibzIiOjAuMjEsIm4yIjowLjc5LCJoZSI6MCwiY3lsaW5kZXJWb2x1bWUiOjE4LCJzdGFydFByZXNzdXJlIjoyMDB9XSwiZ2ZMb3ciOjUwLCJnZkhpZ2giOjgwLCJkaXZlcyI6W3sid2F5cG9pbnRzIjpbeyJ0aW1lIjowLCJkZXB0aCI6MH0seyJ0aW1lIjoxLCJkZXB0aCI6MjAsImdhc0lkIjoiYWlyIn0seyJ0aW1lIjo0MCwiZGVwdGgiOjIwfSx7InRpbWUiOjQyLCJkZXB0aCI6Nn0seyJ0aW1lIjo0MywiZGVwdGgiOjZ9LHsidGltZSI6NDQsImRlcHRoIjozfSx7InRpbWUiOjUxLCJkZXB0aCI6M30seyJ0aW1lIjo1MiwiZGVwdGgiOjB9XX1dLCJkZXNjcmlwdGlvbiI6IkEgMjBtIGRpdmUgZm9yIDQwIG1pbnV0ZXMgd2l0aCBjb25zZXJ2YXRpdmUgR0YgNTAvODAiLCJzdXJmYWNlSW50ZXJ2YWwiOjAuMX0&amp;chart=pressure" TargetMode="External"/><Relationship Id="rId3" Type="http://schemas.openxmlformats.org/officeDocument/2006/relationships/hyperlink" Target="https://decotheory.eu/pressure.html" TargetMode="External"/><Relationship Id="rId1" Type="http://schemas.openxmlformats.org/officeDocument/2006/relationships/image" Target="../media/image-5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decotheory.eu/pressure.html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decotheory.eu/sandbox/?profile=eyJpZCI6ImRlY28tMjBtLTQwbWluIiwibmFtZSI6IjIwbSBEZWNvIERpdmUiLCJnYXNlcyI6W3siaWQiOiJhaXIiLCJuYW1lIjoiQWlyIiwibzIiOjAuMjEsIm4yIjowLjc5LCJoZSI6MCwiY3lsaW5kZXJWb2x1bWUiOjE4LCJzdGFydFByZXNzdXJlIjoyMDB9XSwiZ2ZMb3ciOjUwLCJnZkhpZ2giOjgwLCJkaXZlcyI6W3sid2F5cG9pbnRzIjpbeyJ0aW1lIjowLCJkZXB0aCI6MH0seyJ0aW1lIjoxLCJkZXB0aCI6MjAsImdhc0lkIjoiYWlyIn0seyJ0aW1lIjo0MCwiZGVwdGgiOjIwfSx7InRpbWUiOjQyLCJkZXB0aCI6Nn0seyJ0aW1lIjo0MywiZGVwdGgiOjZ9LHsidGltZSI6NDQsImRlcHRoIjozfSx7InRpbWUiOjUxLCJkZXB0aCI6M30seyJ0aW1lIjo1MiwiZGVwdGgiOjB9XX1dLCJkZXNjcmlwdGlvbiI6IkEgMjBtIGRpdmUgZm9yIDQwIG1pbnV0ZXMgd2l0aCBjb25zZXJ2YXRpdmUgR0YgNTAvODAiLCJzdXJmYWNlSW50ZXJ2YWwiOjAuMX0&amp;chart=gas" TargetMode="External"/><Relationship Id="rId3" Type="http://schemas.openxmlformats.org/officeDocument/2006/relationships/hyperlink" Target="https://decotheory.eu/pressure.html" TargetMode="External"/><Relationship Id="rId1" Type="http://schemas.openxmlformats.org/officeDocument/2006/relationships/image" Target="../media/image-7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decotheory.eu/pressure.html" TargetMode="External"/><Relationship Id="rId1" Type="http://schemas.openxmlformats.org/officeDocument/2006/relationships/image" Target="../media/image-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decotheory.eu/pressure.html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decotheory.eu/pressure.html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decotheory.eu/pressure.html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decotheory.eu/pressure.html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decotheory.eu/sandbox/?profile=eyJpZCI6ImRlY28tMjBtLTQwbWluIiwibmFtZSI6IjIwbSBEZWNvIERpdmUiLCJnYXNlcyI6W3siaWQiOiJhaXIiLCJuYW1lIjoiQWlyIiwibzIiOjAuMjEsIm4yIjowLjc5LCJoZSI6MCwiY3lsaW5kZXJWb2x1bWUiOjE4LCJzdGFydFByZXNzdXJlIjoyMDB9XSwiZ2ZMb3ciOjUwLCJnZkhpZ2giOjgwLCJkaXZlcyI6W3sid2F5cG9pbnRzIjpbeyJ0aW1lIjowLCJkZXB0aCI6MH0seyJ0aW1lIjoxLCJkZXB0aCI6MjAsImdhc0lkIjoiYWlyIn0seyJ0aW1lIjo0MCwiZGVwdGgiOjIwfSx7InRpbWUiOjQyLCJkZXB0aCI6Nn0seyJ0aW1lIjo0MywiZGVwdGgiOjZ9LHsidGltZSI6NDQsImRlcHRoIjozfSx7InRpbWUiOjUxLCJkZXB0aCI6M30seyJ0aW1lIjo1MiwiZGVwdGgiOjB9XX1dLCJkZXNjcmlwdGlvbiI6IkEgMjBtIGRpdmUgZm9yIDQwIG1pbnV0ZXMgd2l0aCBjb25zZXJ2YXRpdmUgR0YgNTAvODAiLCJzdXJmYWNlSW50ZXJ2YWwiOjAuMX0&amp;chart=pp" TargetMode="External"/><Relationship Id="rId3" Type="http://schemas.openxmlformats.org/officeDocument/2006/relationships/hyperlink" Target="https://decotheory.eu/pressure.html" TargetMode="External"/><Relationship Id="rId1" Type="http://schemas.openxmlformats.org/officeDocument/2006/relationships/image" Target="../media/image-13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Pressure &amp;</a:t>
            </a:r>
            <a:endParaRPr lang="en-US" sz="4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Partial Pressure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how pressure changes with depth</a:t>
            </a: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affects the gases you breathe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6" name="Text 4">
            <a:hlinkClick r:id="rId1" tooltip=""/>
          </p:cNvPr>
          <p:cNvSpPr/>
          <p:nvPr/>
        </p:nvSpPr>
        <p:spPr>
          <a:xfrm>
            <a:off x="731520" y="4709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decotheory.eu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0" y="47091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 Theory  |  Educational Use Only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Dive Profile Terminology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dive profile is a graphical representation of your dive, showing depth over time.</a:t>
            </a:r>
            <a:endParaRPr lang="en-US" sz="1300" dirty="0"/>
          </a:p>
        </p:txBody>
      </p:sp>
      <p:pic>
        <p:nvPicPr>
          <p:cNvPr id="5" name="Image 0" descr="/Users/matejhron/src/playground/decojs/images/slides/dive-prof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234440"/>
            <a:ext cx="8595360" cy="3108960"/>
          </a:xfrm>
          <a:prstGeom prst="rect">
            <a:avLst/>
          </a:prstGeom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pic>
      <p:sp>
        <p:nvSpPr>
          <p:cNvPr id="6" name="Text 3">
            <a:hlinkClick r:id="rId2" tooltip=""/>
          </p:cNvPr>
          <p:cNvSpPr/>
          <p:nvPr/>
        </p:nvSpPr>
        <p:spPr>
          <a:xfrm>
            <a:off x="5943600" y="43891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in Sandbox  →</a:t>
            </a:r>
            <a:endParaRPr lang="en-US" sz="1200" dirty="0"/>
          </a:p>
        </p:txBody>
      </p:sp>
      <p:sp>
        <p:nvSpPr>
          <p:cNvPr id="7" name="Text 4">
            <a:hlinkClick r:id="rId3" tooltip=""/>
          </p:cNvPr>
          <p:cNvSpPr/>
          <p:nvPr/>
        </p:nvSpPr>
        <p:spPr>
          <a:xfrm>
            <a:off x="457200" y="4709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u="sng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decotheory.eu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315200" y="47091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Terms</a:t>
            </a:r>
            <a:endParaRPr lang="en-US" sz="2800" dirty="0"/>
          </a:p>
        </p:txBody>
      </p:sp>
      <p:pic>
        <p:nvPicPr>
          <p:cNvPr id="4" name="Image 0" descr="/Users/matejhron/src/playground/decojs/images/slides/terminology-lege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68680"/>
            <a:ext cx="8595360" cy="2514600"/>
          </a:xfrm>
          <a:prstGeom prst="rect">
            <a:avLst/>
          </a:prstGeom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548640" y="35661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Descent: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to planned depth. Rate: ≤18–20 m/min.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Time: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of descent to start of final ascent.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TDT: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Dive Time — entire dive from leaving surface to return.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Stop: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Voluntary 3 min at 3–5 m. Deco Stop = mandatory.</a:t>
            </a:r>
            <a:endParaRPr lang="en-US" sz="1100" dirty="0"/>
          </a:p>
        </p:txBody>
      </p:sp>
      <p:sp>
        <p:nvSpPr>
          <p:cNvPr id="6" name="Text 3">
            <a:hlinkClick r:id="rId2" tooltip=""/>
          </p:cNvPr>
          <p:cNvSpPr/>
          <p:nvPr/>
        </p:nvSpPr>
        <p:spPr>
          <a:xfrm>
            <a:off x="457200" y="4709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u="sng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decotheory.eu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315200" y="47091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Total Pressure Underwater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sources of pressure: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4114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Atmospheric pressure</a:t>
            </a:r>
            <a:endParaRPr lang="en-US" sz="1300" dirty="0"/>
          </a:p>
          <a:p>
            <a:pPr lvl="1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of air above you ≈ 1 bar at sea level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Hydrostatic pressure</a:t>
            </a:r>
            <a:endParaRPr lang="en-US" sz="1300" dirty="0"/>
          </a:p>
          <a:p>
            <a:pPr lvl="1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of water above you ≈ 1 bar per 10 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834640"/>
            <a:ext cx="4114800" cy="731520"/>
          </a:xfrm>
          <a:prstGeom prst="rect">
            <a:avLst/>
          </a:prstGeom>
          <a:solidFill>
            <a:srgbClr val="F0F6FC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288036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P_amb = 1 + depth/10  (bar)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029200" y="868680"/>
            <a:ext cx="3657600" cy="41148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0" y="8686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</a:t>
            </a:r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</a:t>
            </a:r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Pressure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0" y="1280160"/>
            <a:ext cx="3657600" cy="347472"/>
          </a:xfrm>
          <a:prstGeom prst="rect">
            <a:avLst/>
          </a:prstGeom>
          <a:solidFill>
            <a:srgbClr val="F0F6FC"/>
          </a:solidFill>
          <a:ln/>
        </p:spPr>
      </p:sp>
      <p:sp>
        <p:nvSpPr>
          <p:cNvPr id="11" name="Text 9"/>
          <p:cNvSpPr/>
          <p:nvPr/>
        </p:nvSpPr>
        <p:spPr>
          <a:xfrm>
            <a:off x="5212080" y="128016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0" y="128016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bar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0" y="1627632"/>
            <a:ext cx="365760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5212080" y="1627632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58000" y="1627632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bar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0" y="1975104"/>
            <a:ext cx="3657600" cy="347472"/>
          </a:xfrm>
          <a:prstGeom prst="rect">
            <a:avLst/>
          </a:prstGeom>
          <a:solidFill>
            <a:srgbClr val="F0F6FC"/>
          </a:solidFill>
          <a:ln/>
        </p:spPr>
      </p:sp>
      <p:sp>
        <p:nvSpPr>
          <p:cNvPr id="17" name="Text 15"/>
          <p:cNvSpPr/>
          <p:nvPr/>
        </p:nvSpPr>
        <p:spPr>
          <a:xfrm>
            <a:off x="5212080" y="1975104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858000" y="1975104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bar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0" y="2322576"/>
            <a:ext cx="365760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5212080" y="2322576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858000" y="2322576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bar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029200" y="2670048"/>
            <a:ext cx="3657600" cy="347472"/>
          </a:xfrm>
          <a:prstGeom prst="rect">
            <a:avLst/>
          </a:prstGeom>
          <a:solidFill>
            <a:srgbClr val="F0F6FC"/>
          </a:solidFill>
          <a:ln/>
        </p:spPr>
      </p:sp>
      <p:sp>
        <p:nvSpPr>
          <p:cNvPr id="23" name="Text 21"/>
          <p:cNvSpPr/>
          <p:nvPr/>
        </p:nvSpPr>
        <p:spPr>
          <a:xfrm>
            <a:off x="5212080" y="2670048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m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58000" y="2670048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bar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39319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10 m of seawater adds approximately 1 bar of pressure.</a:t>
            </a:r>
            <a:endParaRPr lang="en-US" sz="1200" dirty="0"/>
          </a:p>
        </p:txBody>
      </p:sp>
      <p:sp>
        <p:nvSpPr>
          <p:cNvPr id="26" name="Text 24">
            <a:hlinkClick r:id="rId1" tooltip=""/>
          </p:cNvPr>
          <p:cNvSpPr/>
          <p:nvPr/>
        </p:nvSpPr>
        <p:spPr>
          <a:xfrm>
            <a:off x="457200" y="4709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u="sng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decotheory.eu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315200" y="47091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Dive Profile with Total Pressure</a:t>
            </a:r>
            <a:endParaRPr lang="en-US" sz="2800" dirty="0"/>
          </a:p>
        </p:txBody>
      </p:sp>
      <p:pic>
        <p:nvPicPr>
          <p:cNvPr id="4" name="Image 0" descr="/Users/matejhron/src/playground/decojs/images/slides/pressure-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68680"/>
            <a:ext cx="8595360" cy="3383280"/>
          </a:xfrm>
          <a:prstGeom prst="rect">
            <a:avLst/>
          </a:prstGeom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pic>
      <p:sp>
        <p:nvSpPr>
          <p:cNvPr id="5" name="Text 2">
            <a:hlinkClick r:id="rId2" tooltip=""/>
          </p:cNvPr>
          <p:cNvSpPr/>
          <p:nvPr/>
        </p:nvSpPr>
        <p:spPr>
          <a:xfrm>
            <a:off x="5943600" y="43434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in Sandbox  →</a:t>
            </a:r>
            <a:endParaRPr lang="en-US" sz="1200" dirty="0"/>
          </a:p>
        </p:txBody>
      </p:sp>
      <p:sp>
        <p:nvSpPr>
          <p:cNvPr id="6" name="Text 3">
            <a:hlinkClick r:id="rId3" tooltip=""/>
          </p:cNvPr>
          <p:cNvSpPr/>
          <p:nvPr/>
        </p:nvSpPr>
        <p:spPr>
          <a:xfrm>
            <a:off x="457200" y="4709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u="sng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decotheory.eu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315200" y="47091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Gas Consumption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Depth Matters for Gas Supply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Boyle-Mariotte's Law: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pressure increases, gas volume decreases proportionally. At depth, each breath draws more gas molecules from your tank.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4572000" cy="411480"/>
          </a:xfrm>
          <a:prstGeom prst="rect">
            <a:avLst/>
          </a:prstGeom>
          <a:solidFill>
            <a:srgbClr val="F0F6FC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28600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 Rate (Surface Air Consumption) ≈ 20 L/min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834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depth: Consumption = SAC × Ambient Pressure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0" y="868680"/>
            <a:ext cx="3200400" cy="36576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0" y="8686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        Consumption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0" y="1234440"/>
            <a:ext cx="3200400" cy="329184"/>
          </a:xfrm>
          <a:prstGeom prst="rect">
            <a:avLst/>
          </a:prstGeom>
          <a:solidFill>
            <a:srgbClr val="F0F6FC"/>
          </a:solidFill>
          <a:ln/>
        </p:spPr>
      </p:sp>
      <p:sp>
        <p:nvSpPr>
          <p:cNvPr id="12" name="Text 10"/>
          <p:cNvSpPr/>
          <p:nvPr/>
        </p:nvSpPr>
        <p:spPr>
          <a:xfrm>
            <a:off x="5623560" y="1234440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(1 bar)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406640" y="1234440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L/min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0" y="1563624"/>
            <a:ext cx="320040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5623560" y="1563624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 (2 bar)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406640" y="1563624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L/min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0" y="1892808"/>
            <a:ext cx="3200400" cy="329184"/>
          </a:xfrm>
          <a:prstGeom prst="rect">
            <a:avLst/>
          </a:prstGeom>
          <a:solidFill>
            <a:srgbClr val="F0F6FC"/>
          </a:solidFill>
          <a:ln/>
        </p:spPr>
      </p:sp>
      <p:sp>
        <p:nvSpPr>
          <p:cNvPr id="18" name="Text 16"/>
          <p:cNvSpPr/>
          <p:nvPr/>
        </p:nvSpPr>
        <p:spPr>
          <a:xfrm>
            <a:off x="5623560" y="1892808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 (3 bar)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406640" y="1892808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L/min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0" y="2221992"/>
            <a:ext cx="320040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5623560" y="2221992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 (4 bar)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406640" y="2221992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L/min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0" y="2551176"/>
            <a:ext cx="3200400" cy="329184"/>
          </a:xfrm>
          <a:prstGeom prst="rect">
            <a:avLst/>
          </a:prstGeom>
          <a:solidFill>
            <a:srgbClr val="F0F6FC"/>
          </a:solidFill>
          <a:ln/>
        </p:spPr>
      </p:sp>
      <p:sp>
        <p:nvSpPr>
          <p:cNvPr id="24" name="Text 22"/>
          <p:cNvSpPr/>
          <p:nvPr/>
        </p:nvSpPr>
        <p:spPr>
          <a:xfrm>
            <a:off x="5623560" y="2551176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m (5 bar)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406640" y="2551176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L/min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3291840"/>
            <a:ext cx="8046720" cy="594360"/>
          </a:xfrm>
          <a:prstGeom prst="rect">
            <a:avLst/>
          </a:prstGeom>
          <a:solidFill>
            <a:srgbClr val="F0F6FC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31520" y="3291840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Gas Available = V_cylinder × (P_start − P_reserve)    |    e.g. 12L × (200−50) = 1800 L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8640" y="40233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dives consume gas exponentially faster — always plan conservatively!</a:t>
            </a:r>
            <a:endParaRPr lang="en-US" sz="1100" dirty="0"/>
          </a:p>
        </p:txBody>
      </p:sp>
      <p:sp>
        <p:nvSpPr>
          <p:cNvPr id="29" name="Text 27">
            <a:hlinkClick r:id="rId1" tooltip=""/>
          </p:cNvPr>
          <p:cNvSpPr/>
          <p:nvPr/>
        </p:nvSpPr>
        <p:spPr>
          <a:xfrm>
            <a:off x="457200" y="4709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u="sng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decotheory.eu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315200" y="47091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Gas Consumption During Dive</a:t>
            </a:r>
            <a:endParaRPr lang="en-US" sz="2800" dirty="0"/>
          </a:p>
        </p:txBody>
      </p:sp>
      <p:pic>
        <p:nvPicPr>
          <p:cNvPr id="4" name="Image 0" descr="/Users/matejhron/src/playground/decojs/images/slides/gas-consumption-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68680"/>
            <a:ext cx="8595360" cy="3383280"/>
          </a:xfrm>
          <a:prstGeom prst="rect">
            <a:avLst/>
          </a:prstGeom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pic>
      <p:sp>
        <p:nvSpPr>
          <p:cNvPr id="5" name="Text 2">
            <a:hlinkClick r:id="rId2" tooltip=""/>
          </p:cNvPr>
          <p:cNvSpPr/>
          <p:nvPr/>
        </p:nvSpPr>
        <p:spPr>
          <a:xfrm>
            <a:off x="5943600" y="43434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in Sandbox  →</a:t>
            </a:r>
            <a:endParaRPr lang="en-US" sz="1200" dirty="0"/>
          </a:p>
        </p:txBody>
      </p:sp>
      <p:sp>
        <p:nvSpPr>
          <p:cNvPr id="6" name="Text 3">
            <a:hlinkClick r:id="rId3" tooltip=""/>
          </p:cNvPr>
          <p:cNvSpPr/>
          <p:nvPr/>
        </p:nvSpPr>
        <p:spPr>
          <a:xfrm>
            <a:off x="457200" y="4709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u="sng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decotheory.eu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315200" y="47091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Air Composition</a:t>
            </a:r>
            <a:endParaRPr lang="en-US" sz="2800" dirty="0"/>
          </a:p>
        </p:txBody>
      </p:sp>
      <p:pic>
        <p:nvPicPr>
          <p:cNvPr id="4" name="Image 0" descr="/Users/matejhron/src/playground/decojs/images/slides/air-composi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68680"/>
            <a:ext cx="3200400" cy="3200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840480" y="8686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in the Air You Breathe?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3931920" y="1444752"/>
            <a:ext cx="182880" cy="182880"/>
          </a:xfrm>
          <a:prstGeom prst="oval">
            <a:avLst/>
          </a:prstGeom>
          <a:solidFill>
            <a:srgbClr val="3498DB"/>
          </a:solidFill>
          <a:ln/>
        </p:spPr>
      </p:sp>
      <p:sp>
        <p:nvSpPr>
          <p:cNvPr id="7" name="Text 4"/>
          <p:cNvSpPr/>
          <p:nvPr/>
        </p:nvSpPr>
        <p:spPr>
          <a:xfrm>
            <a:off x="4251960" y="137160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Nitrogen (N₂)  —  78%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251960" y="166420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Inert gas — does not participate in metabolism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931920" y="2221992"/>
            <a:ext cx="182880" cy="182880"/>
          </a:xfrm>
          <a:prstGeom prst="oval">
            <a:avLst/>
          </a:prstGeom>
          <a:solidFill>
            <a:srgbClr val="2ECC71"/>
          </a:solidFill>
          <a:ln/>
        </p:spPr>
      </p:sp>
      <p:sp>
        <p:nvSpPr>
          <p:cNvPr id="10" name="Text 7"/>
          <p:cNvSpPr/>
          <p:nvPr/>
        </p:nvSpPr>
        <p:spPr>
          <a:xfrm>
            <a:off x="4251960" y="214884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Oxygen (O₂)  —  21%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251960" y="244144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for life, but toxic at high partial pressures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931920" y="2999232"/>
            <a:ext cx="182880" cy="182880"/>
          </a:xfrm>
          <a:prstGeom prst="oval">
            <a:avLst/>
          </a:prstGeom>
          <a:solidFill>
            <a:srgbClr val="95A5A6"/>
          </a:solidFill>
          <a:ln/>
        </p:spPr>
      </p:sp>
      <p:sp>
        <p:nvSpPr>
          <p:cNvPr id="13" name="Text 10"/>
          <p:cNvSpPr/>
          <p:nvPr/>
        </p:nvSpPr>
        <p:spPr>
          <a:xfrm>
            <a:off x="4251960" y="292608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gases  —  1%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251960" y="321868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Primarily Argon, CO₂, and trace gases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840480" y="3657600"/>
            <a:ext cx="4846320" cy="54864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16" name="Text 13"/>
          <p:cNvSpPr/>
          <p:nvPr/>
        </p:nvSpPr>
        <p:spPr>
          <a:xfrm>
            <a:off x="3840480" y="379476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Nitrox (EAN):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O₂, less N₂ loading.  </a:t>
            </a:r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Trimix: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helium for deep diving.</a:t>
            </a:r>
            <a:endParaRPr lang="en-US" sz="1100" dirty="0"/>
          </a:p>
        </p:txBody>
      </p:sp>
      <p:sp>
        <p:nvSpPr>
          <p:cNvPr id="17" name="Text 14">
            <a:hlinkClick r:id="rId2" tooltip=""/>
          </p:cNvPr>
          <p:cNvSpPr/>
          <p:nvPr/>
        </p:nvSpPr>
        <p:spPr>
          <a:xfrm>
            <a:off x="457200" y="4709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u="sng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decotheory.eu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7315200" y="47091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13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Dalton's Law of Partial Pressures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total pressure of a gas mixture equals the sum of the partial pressures of each component gas.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840480" cy="548640"/>
          </a:xfrm>
          <a:prstGeom prst="rect">
            <a:avLst/>
          </a:prstGeom>
          <a:solidFill>
            <a:srgbClr val="F0F6FC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37160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pp_x = f_x × P_amb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754880" y="128016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pp_x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partial pressure of gas x (bar)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f_x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fraction of gas x (e.g. 0.21 for 21%)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P_amb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ambient pressure = 1 + depth/10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8046720" cy="36576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3317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Air at 30 meters  (P_amb = 4 bar)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2788920"/>
          <a:ext cx="64008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371600"/>
                <a:gridCol w="1828800"/>
                <a:gridCol w="210312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Calculation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 Pressure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O₂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 × 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ECC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 bar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N₂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 × 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39C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3.16 bar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548640" y="3840480"/>
            <a:ext cx="8046720" cy="640080"/>
          </a:xfrm>
          <a:prstGeom prst="rect">
            <a:avLst/>
          </a:prstGeom>
          <a:solidFill>
            <a:srgbClr val="F0F6FC"/>
          </a:solidFill>
          <a:ln/>
        </p:spPr>
      </p:sp>
      <p:sp>
        <p:nvSpPr>
          <p:cNvPr id="12" name="Text 9"/>
          <p:cNvSpPr/>
          <p:nvPr/>
        </p:nvSpPr>
        <p:spPr>
          <a:xfrm>
            <a:off x="731520" y="384048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ppO₂ = f_O₂ × P_amb  (MOD / gas limits)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Physiological: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pp_inert = f_inert × (P_amb − 0.0627)  (tissue kinetics, subtracts water vapour)</a:t>
            </a:r>
            <a:endParaRPr lang="en-US" sz="1100" dirty="0"/>
          </a:p>
        </p:txBody>
      </p:sp>
      <p:sp>
        <p:nvSpPr>
          <p:cNvPr id="13" name="Text 10">
            <a:hlinkClick r:id="rId1" tooltip=""/>
          </p:cNvPr>
          <p:cNvSpPr/>
          <p:nvPr/>
        </p:nvSpPr>
        <p:spPr>
          <a:xfrm>
            <a:off x="457200" y="4709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u="sng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decotheory.eu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7315200" y="47091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13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Partial Pressure Limits — Oxygen (ppO₂)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77240"/>
          <a:ext cx="50292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645920"/>
                <a:gridCol w="228600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ppO₂ (bar)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0.16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⚫ Hypoxia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 of consciousness, death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0.16 – 0.50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CC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🟢 Normal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Surface breathing range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 – 1.40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CC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🟢 Safe for diving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Recommended working limit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1.40 – 1.60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39C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Caution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Deco stops only. Limited exposure.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1.60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🔴 Danger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risk of CNS O₂ toxicity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0" y="7772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Operating Depth (MOD)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669280" y="1188720"/>
            <a:ext cx="3200400" cy="457200"/>
          </a:xfrm>
          <a:prstGeom prst="rect">
            <a:avLst/>
          </a:prstGeom>
          <a:solidFill>
            <a:srgbClr val="F0F6FC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669280" y="11887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 = (ppO₂max / fO₂ − 1) × 10</a:t>
            </a:r>
            <a:endParaRPr lang="en-US" sz="12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0" y="1828800"/>
          <a:ext cx="32004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731520"/>
                <a:gridCol w="128016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fO₂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Air (21%)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56.7 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EAN32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33.8 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EAN36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28.9 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EAN40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25.0 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5669280" y="32461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O₂ fraction → shallower MOD</a:t>
            </a:r>
            <a:endParaRPr lang="en-US" sz="1000" dirty="0"/>
          </a:p>
        </p:txBody>
      </p:sp>
      <p:sp>
        <p:nvSpPr>
          <p:cNvPr id="10" name="Text 6">
            <a:hlinkClick r:id="rId1" tooltip=""/>
          </p:cNvPr>
          <p:cNvSpPr/>
          <p:nvPr/>
        </p:nvSpPr>
        <p:spPr>
          <a:xfrm>
            <a:off x="457200" y="4709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u="sng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decotheory.eu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7315200" y="47091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Nitrogen Narcosis (ppN₂)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4114800" cy="2560320"/>
          </a:xfrm>
          <a:prstGeom prst="rect">
            <a:avLst/>
          </a:prstGeom>
          <a:solidFill>
            <a:srgbClr val="F0F6FC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9144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🍸 The "Martini Rule"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2801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10 m of depth on air ≈ one martini on an empty stomach.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73736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 — 1 martini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 — 2 martinis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 — 3 martinis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m — 4 martinis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8803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susceptibility varies. Cold, stress, and fatigue increase narcosis.</a:t>
            </a:r>
            <a:endParaRPr lang="en-US" sz="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822960"/>
          <a:ext cx="402336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097280"/>
                <a:gridCol w="192024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ppN₂ (bar)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Depth (Air)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Effects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2.4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20 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CC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Minimal effects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 – 3.2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– 30 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39C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Mild euphoria, slight impairment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 – 4.0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– 40 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39C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Noticeable impairment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4.0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40 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Severe narcosis. Max rec. limit.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4846320" y="2468880"/>
            <a:ext cx="4023360" cy="457200"/>
          </a:xfrm>
          <a:prstGeom prst="rect">
            <a:avLst/>
          </a:prstGeom>
          <a:solidFill>
            <a:srgbClr val="F0F6FC"/>
          </a:solidFill>
          <a:ln/>
        </p:spPr>
      </p:sp>
      <p:sp>
        <p:nvSpPr>
          <p:cNvPr id="11" name="Text 8"/>
          <p:cNvSpPr/>
          <p:nvPr/>
        </p:nvSpPr>
        <p:spPr>
          <a:xfrm>
            <a:off x="4937760" y="24688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Nitrox pushes narcosis limit deeper, but oxygen MOD kicks in first — always respect both limits.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57200" y="3246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depth for ppN₂ = 4.0 bar: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56616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914400"/>
                <a:gridCol w="1371600"/>
                <a:gridCol w="4846320"/>
              </a:tblGrid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fN₂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Depth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40.6 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EAN32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48.8 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but MOD is 33.8 m!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EAN36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52.5 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but MOD is 28.9 m!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EAN40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56.7 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but MOD is 25.0 m!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Text 10">
            <a:hlinkClick r:id="rId1" tooltip=""/>
          </p:cNvPr>
          <p:cNvSpPr/>
          <p:nvPr/>
        </p:nvSpPr>
        <p:spPr>
          <a:xfrm>
            <a:off x="457200" y="4709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u="sng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decotheory.eu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7315200" y="47091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Oxygen Toxicity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22960"/>
          <a:ext cx="841248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2377440"/>
                <a:gridCol w="27432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Cause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Symptoms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Relevance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CNS Toxicity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ppO₂ (&gt;1.6 bar)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Seizures, tunnel vision, twitching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Immediate danger, can cause drowning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39C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Pulmonary Toxicity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Prolonged ppO₂ &gt;0.5 bar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Chest pain, coughing, breathing difficulty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Relevant for long exposures, rebreathers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2148840"/>
            <a:ext cx="8229600" cy="2240280"/>
          </a:xfrm>
          <a:prstGeom prst="rect">
            <a:avLst/>
          </a:prstGeom>
          <a:solidFill>
            <a:srgbClr val="F0F6FC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40080" y="21945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CNS Symptoms — Remember VENTID-C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731520" y="2697480"/>
            <a:ext cx="256032" cy="256032"/>
          </a:xfrm>
          <a:prstGeom prst="oval">
            <a:avLst/>
          </a:prstGeom>
          <a:solidFill>
            <a:srgbClr val="E74C3C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269748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97280" y="26517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disturbances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(tunnel vision)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31520" y="3063240"/>
            <a:ext cx="256032" cy="256032"/>
          </a:xfrm>
          <a:prstGeom prst="oval">
            <a:avLst/>
          </a:prstGeom>
          <a:solidFill>
            <a:srgbClr val="E74C3C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306324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097280" y="30175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 ringing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(tinnitus)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31520" y="3429000"/>
            <a:ext cx="256032" cy="256032"/>
          </a:xfrm>
          <a:prstGeom prst="oval">
            <a:avLst/>
          </a:prstGeom>
          <a:solidFill>
            <a:srgbClr val="E74C3C"/>
          </a:solidFill>
          <a:ln/>
        </p:spPr>
      </p:sp>
      <p:sp>
        <p:nvSpPr>
          <p:cNvPr id="14" name="Text 11"/>
          <p:cNvSpPr/>
          <p:nvPr/>
        </p:nvSpPr>
        <p:spPr>
          <a:xfrm>
            <a:off x="731520" y="342900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97280" y="33832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Nausea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31520" y="3794760"/>
            <a:ext cx="256032" cy="256032"/>
          </a:xfrm>
          <a:prstGeom prst="oval">
            <a:avLst/>
          </a:prstGeom>
          <a:solidFill>
            <a:srgbClr val="E74C3C"/>
          </a:solidFill>
          <a:ln/>
        </p:spPr>
      </p:sp>
      <p:sp>
        <p:nvSpPr>
          <p:cNvPr id="17" name="Text 14"/>
          <p:cNvSpPr/>
          <p:nvPr/>
        </p:nvSpPr>
        <p:spPr>
          <a:xfrm>
            <a:off x="731520" y="379476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097280" y="37490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Twitching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(especially facial muscles)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754880" y="2697480"/>
            <a:ext cx="256032" cy="256032"/>
          </a:xfrm>
          <a:prstGeom prst="oval">
            <a:avLst/>
          </a:prstGeom>
          <a:solidFill>
            <a:srgbClr val="E74C3C"/>
          </a:solidFill>
          <a:ln/>
        </p:spPr>
      </p:sp>
      <p:sp>
        <p:nvSpPr>
          <p:cNvPr id="20" name="Text 17"/>
          <p:cNvSpPr/>
          <p:nvPr/>
        </p:nvSpPr>
        <p:spPr>
          <a:xfrm>
            <a:off x="4754880" y="269748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120640" y="26517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Irritability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, anxiety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754880" y="3063240"/>
            <a:ext cx="256032" cy="256032"/>
          </a:xfrm>
          <a:prstGeom prst="oval">
            <a:avLst/>
          </a:prstGeom>
          <a:solidFill>
            <a:srgbClr val="E74C3C"/>
          </a:solidFill>
          <a:ln/>
        </p:spPr>
      </p:sp>
      <p:sp>
        <p:nvSpPr>
          <p:cNvPr id="23" name="Text 20"/>
          <p:cNvSpPr/>
          <p:nvPr/>
        </p:nvSpPr>
        <p:spPr>
          <a:xfrm>
            <a:off x="4754880" y="306324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5120640" y="30175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Dizziness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754880" y="3429000"/>
            <a:ext cx="256032" cy="256032"/>
          </a:xfrm>
          <a:prstGeom prst="oval">
            <a:avLst/>
          </a:prstGeom>
          <a:solidFill>
            <a:srgbClr val="E74C3C"/>
          </a:solidFill>
          <a:ln/>
        </p:spPr>
      </p:sp>
      <p:sp>
        <p:nvSpPr>
          <p:cNvPr id="26" name="Text 23"/>
          <p:cNvSpPr/>
          <p:nvPr/>
        </p:nvSpPr>
        <p:spPr>
          <a:xfrm>
            <a:off x="4754880" y="342900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5120640" y="33832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Convulsions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(the most dangerous)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If you experience any symptoms, signal your buddy and begin ascending immediately.</a:t>
            </a:r>
            <a:endParaRPr lang="en-US" sz="1100" dirty="0"/>
          </a:p>
        </p:txBody>
      </p:sp>
      <p:sp>
        <p:nvSpPr>
          <p:cNvPr id="29" name="Text 26">
            <a:hlinkClick r:id="rId1" tooltip=""/>
          </p:cNvPr>
          <p:cNvSpPr/>
          <p:nvPr/>
        </p:nvSpPr>
        <p:spPr>
          <a:xfrm>
            <a:off x="457200" y="4709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u="sng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decotheory.eu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7315200" y="47091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Partial Pressures During Dive</a:t>
            </a:r>
            <a:endParaRPr lang="en-US" sz="2800" dirty="0"/>
          </a:p>
        </p:txBody>
      </p:sp>
      <p:pic>
        <p:nvPicPr>
          <p:cNvPr id="4" name="Image 0" descr="/Users/matejhron/src/playground/decojs/images/slides/partial-pressure-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68680"/>
            <a:ext cx="8595360" cy="3383280"/>
          </a:xfrm>
          <a:prstGeom prst="rect">
            <a:avLst/>
          </a:prstGeom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548640" y="42976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chart shows how ppO₂ and ppN₂ change throughout the dive profile, relative to safety limits.</a:t>
            </a:r>
            <a:endParaRPr lang="en-US" sz="1100" dirty="0"/>
          </a:p>
        </p:txBody>
      </p:sp>
      <p:sp>
        <p:nvSpPr>
          <p:cNvPr id="6" name="Text 3">
            <a:hlinkClick r:id="rId2" tooltip=""/>
          </p:cNvPr>
          <p:cNvSpPr/>
          <p:nvPr/>
        </p:nvSpPr>
        <p:spPr>
          <a:xfrm>
            <a:off x="5943600" y="43434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in Sandbox  →</a:t>
            </a:r>
            <a:endParaRPr lang="en-US" sz="1200" dirty="0"/>
          </a:p>
        </p:txBody>
      </p:sp>
      <p:sp>
        <p:nvSpPr>
          <p:cNvPr id="7" name="Text 4">
            <a:hlinkClick r:id="rId3" tooltip=""/>
          </p:cNvPr>
          <p:cNvSpPr/>
          <p:nvPr/>
        </p:nvSpPr>
        <p:spPr>
          <a:xfrm>
            <a:off x="457200" y="4709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u="sng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decotheory.eu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315200" y="47091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Pressure &amp; Partial Pressure</dc:title>
  <dc:subject>Scuba Diving Decompression Theory</dc:subject>
  <dc:creator>Deco Theory</dc:creator>
  <cp:lastModifiedBy>Deco Theory</cp:lastModifiedBy>
  <cp:revision>1</cp:revision>
  <dcterms:created xsi:type="dcterms:W3CDTF">2026-02-21T16:10:11Z</dcterms:created>
  <dcterms:modified xsi:type="dcterms:W3CDTF">2026-02-21T16:10:11Z</dcterms:modified>
</cp:coreProperties>
</file>